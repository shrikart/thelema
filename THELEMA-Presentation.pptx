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0F16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ARC MICROGRANT SUBMISSION</a:t>
            </a:r>
          </a:p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</a:defRPr>
            </a:pPr>
            <a:r>
              <a:t>THELEMA</a:t>
            </a:r>
          </a:p>
          <a:p>
            <a:pPr>
              <a:spcAft>
                <a:spcPts val="1600"/>
              </a:spcAft>
              <a:defRPr sz="2400" b="1">
                <a:solidFill>
                  <a:srgbClr val="10B981"/>
                </a:solidFill>
              </a:defRPr>
            </a:pPr>
            <a:r>
              <a:t>Trade the impact. Not just the odds.</a:t>
            </a:r>
          </a:p>
          <a:p>
            <a:pPr>
              <a:spcAft>
                <a:spcPts val="2800"/>
              </a:spcAft>
              <a:defRPr sz="1500">
                <a:solidFill>
                  <a:srgbClr val="CBD5E1"/>
                </a:solidFill>
              </a:defRPr>
            </a:pPr>
            <a:r>
              <a:t>Conditional synthetic prediction markets deployed on Arc Testnet, powered by The Graph decentralized gateway consensus and Chainlink CRE confidential workflows.</a:t>
            </a:r>
          </a:p>
          <a:p>
            <a:pPr>
              <a:defRPr sz="1300" b="1">
                <a:solidFill>
                  <a:srgbClr val="94A3B8"/>
                </a:solidFill>
              </a:defRPr>
            </a:pPr>
            <a:r>
              <a:t>Arc Testnet (Chain ID 5042002)   |   The Graph (Messari Schema)   |   Chainlink CRE (WASM)   |   100% Solvency Vaults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THE PROBLEM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Prediction Markets Predict Odds, Not Consequences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F87171"/>
                </a:solidFill>
              </a:defRPr>
            </a:pPr>
            <a:r>
              <a:t>Binary Markets Today (e.g. Polymarket)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• Binary $1 / $0 Payout: 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   Tells you if policy passes, but zero information on economic impact.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• No Asset Pricing: 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   Cannot price how Nvidia, semiconductor equities, or commodities react to the decision.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• Speculative Only: 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   Investors cannot use binary outcome tokens to hedge physical portfolio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493776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</a:defRPr>
            </a:pPr>
            <a:r>
              <a:t>What Capital Actually Needs (THELEMA)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• Conditional Synthetic Assets: 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</a:defRPr>
            </a:pPr>
            <a:r>
              <a:t>   Trade outcome-contingent shares: sNVDA if policy passes vs sNVDA if policy fails.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• Quantified Price Impact: 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</a:defRPr>
            </a:pPr>
            <a:r>
              <a:t>   Derives Δ Impact = E[S | YES] − E[S | NO] directly from continuous AMM pool reserves.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• True Portfolio Hedging: 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</a:defRPr>
            </a:pPr>
            <a:r>
              <a:t>   Holders of physical stocks or treasuries can hedge regulatory risk with mathematical 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THE PRICING MECHANISM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Same Asset. Different Futures. Four Verified Numbers.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42316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EVENT PROBABILITY</a:t>
            </a:r>
          </a:p>
          <a:p>
            <a:pPr>
              <a:spcAft>
                <a:spcPts val="400"/>
              </a:spcAft>
              <a:defRPr sz="3200" b="1">
                <a:solidFill>
                  <a:srgbClr val="38BDF8"/>
                </a:solidFill>
              </a:defRPr>
            </a:pPr>
            <a:r>
              <a:t>54.7%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P(event)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Binary YES pool midprice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011680"/>
            <a:ext cx="242316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03120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ASSET IF YES</a:t>
            </a:r>
          </a:p>
          <a:p>
            <a:pPr>
              <a:spcAft>
                <a:spcPts val="400"/>
              </a:spcAft>
              <a:defRPr sz="3200" b="1">
                <a:solidFill>
                  <a:srgbClr val="10B981"/>
                </a:solidFill>
              </a:defRPr>
            </a:pPr>
            <a:r>
              <a:t>$212.92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E[S | YES]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Conditional price if allowed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42316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ASSET IF NO</a:t>
            </a:r>
          </a:p>
          <a:p>
            <a:pPr>
              <a:spcAft>
                <a:spcPts val="400"/>
              </a:spcAft>
              <a:defRPr sz="3200" b="1">
                <a:solidFill>
                  <a:srgbClr val="FB923C"/>
                </a:solidFill>
              </a:defRPr>
            </a:pPr>
            <a:r>
              <a:t>$96.46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E[S | NO]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Conditional price if restricted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011680"/>
            <a:ext cx="242316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103120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CONDITIONAL IMPACT</a:t>
            </a:r>
          </a:p>
          <a:p>
            <a:pPr>
              <a:spcAft>
                <a:spcPts val="400"/>
              </a:spcAft>
              <a:defRPr sz="3200" b="1">
                <a:solidFill>
                  <a:srgbClr val="A855F7"/>
                </a:solidFill>
              </a:defRPr>
            </a:pPr>
            <a:r>
              <a:t>+$116.47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Δ Impact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YES world minus NO world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72000"/>
            <a:ext cx="10362895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663440"/>
            <a:ext cx="98142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The Pricing Identity &amp; Solvency Guarantee:</a:t>
            </a:r>
          </a:p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P × E[S | YES]  +  (1 − P) × E[S | NO]  =  Implied Spot Index ($160.21)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Mathematical Vault Solvency: Depositing collateral mints complete sets: Y + N + R capped at $500. Winning asset shares pay min(index, cap); losing pays 0; residual R pays max(0, cap − min(index, cap)). Collateral is 100% conserved.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INFRASTRUCTURE &amp; SPONSOR TRACKS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Three Rigorous Integrations Built from Scratch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42062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Arc Testnet</a:t>
            </a:r>
          </a:p>
          <a:p>
            <a:pPr>
              <a:spcAft>
                <a:spcPts val="1400"/>
              </a:spcAft>
              <a:defRPr sz="1200" b="1">
                <a:solidFill>
                  <a:srgbClr val="94A3B8"/>
                </a:solidFill>
              </a:defRPr>
            </a:pPr>
            <a:r>
              <a:t>Best Stablecoin-Native DeFi Pool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6 Smart Contracts Active: BinaryAMM, ShareAMM, Vaults, and DemoOracle.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Native USDC Precompile (0x3600...): Direct 6-decimal collateral and native gas.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Live On-Chain Trade: 1.00 USDC demo trade executed &amp; confirmed on Arcscan in block 61728406.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Zero Mocked State: Verified bytecode, balances, and nonces on Chain ID 5042002.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2011680"/>
            <a:ext cx="3291840" cy="42062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35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The Graph</a:t>
            </a:r>
          </a:p>
          <a:p>
            <a:pPr>
              <a:spcAft>
                <a:spcPts val="1400"/>
              </a:spcAft>
              <a:defRPr sz="1200" b="1">
                <a:solidFill>
                  <a:srgbClr val="94A3B8"/>
                </a:solidFill>
              </a:defRPr>
            </a:pPr>
            <a:r>
              <a:t>Messari Standardized Schema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Cross-Protocol Engine: Queries Uniswap V3 and SushiSwap pools on Arbitrum One.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Standardized Messari DEX Schema: Normalized fields across different DEX protocols.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Real-Time Spread Consensus: Verifies pools agree within 0.25% spread (threshold 1.5%).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Decentralized Gateway: Server-side queries keep production keys out of client bundle.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4540" y="2011680"/>
            <a:ext cx="3291840" cy="42062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74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Chainlink CRE</a:t>
            </a:r>
          </a:p>
          <a:p>
            <a:pPr>
              <a:spcAft>
                <a:spcPts val="1400"/>
              </a:spcAft>
              <a:defRPr sz="1200" b="1">
                <a:solidFill>
                  <a:srgbClr val="94A3B8"/>
                </a:solidFill>
              </a:defRPr>
            </a:pPr>
            <a:r>
              <a:t>Confidential Workflows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Confidential Size Clipping: Hides order notional inside TEE to prevent front-running.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WASM Policy Compilation: Pure TypeScript policy compiled to standalone WebAssembly.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Official CLI Simulation: Tested via Chainlink CRE CLI simulator (halted at network boundary).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Honest Grant Reporting: Production contract standby pending organization deploy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LIVE PRODUCT DEMONSTRATION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Active On-Chain Prediction Market on Arc Testnet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38912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Market Parameters &amp; Features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Target Market: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Will the US allow advanced AI chip sales to China by 31 Dec 2026?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Active Trading Window: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Event deadline: 31 Dec 2026 | Trading cutoff: 1 Jan 2027.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Real Web3 Wallet Integration: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Connects MetaMask on Chain ID 5042002. Displays live on-chain token balances.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Automated Quotation: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Calculates precise 30 bps LP fee, price impact, and minimum shares received.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One-Click Execution: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Direct smart contract interactions without custodial intermediaries.</a:t>
            </a:r>
          </a:p>
        </p:txBody>
      </p:sp>
      <p:pic>
        <p:nvPicPr>
          <p:cNvPr id="6" name="Picture 5" descr="submission-01-arc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ON-CHAIN PROOF &amp; AUDIT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Verified Demonstration Trade &amp; Spending Reconciliation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38912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Trade Proof &amp; Holdings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Trade Hash: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0xe4208cc844dbfec21d18e38c20630388c2a7c7083bb17583fbe6dfc5a55190a6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Mined Block: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Block 61728406 on Arc Testnet (Success).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Swap Execution: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Deposited 1.000000 USDC -&gt; Received 1.903611 tYES tokens.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Verified On-Chain Holdings: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11.9036 tYES, 10.0000 tNO, 0.1000 R.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Audited Spending Ceiling: 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Total spent: 173.707142 USDC &lt;= 180.000000 USDC ceiling. Balance: 22.292857 USDC.</a:t>
            </a:r>
          </a:p>
        </p:txBody>
      </p:sp>
      <p:pic>
        <p:nvPicPr>
          <p:cNvPr id="6" name="Picture 5" descr="submission-04-onchain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CONCLUSION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The Next Generation of Prediction Markets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100% Verified Quality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238 core unit &amp; integration tests passing.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24 Foundry Solidity invariant tests passing.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18 Playwright end-to-end browser tests passing.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Green GitHub Actions CI on every commit.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2011680"/>
            <a:ext cx="329184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350" y="21945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Live &amp; Deployed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Active on-chain contracts on Arc Testnet.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Native 6-decimal USDC collateral &amp; gas precompile.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Live hosted application on Render.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Real-time The Graph decentralized reference feeds.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4540" y="2011680"/>
            <a:ext cx="329184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7420" y="21945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</a:defRPr>
            </a:pPr>
            <a:r>
              <a:t>Future Roadmap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Deploy live CRE TEE workflows once org access opens.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Expand to macro tariffs, interest rates &amp; chip governance.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Permissionless creation of custom impact pairs.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Institutional hedging integrations.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10362895" cy="822960"/>
          </a:xfrm>
          <a:prstGeom prst="roundRect">
            <a:avLst/>
          </a:prstGeom>
          <a:solidFill>
            <a:srgbClr val="0F16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62356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Live Hosted Application:  thelema.onrender.com      |      GitHub Repository:  github.com/ShrikarT/thelema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