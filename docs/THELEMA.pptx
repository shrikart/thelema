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Hi. I’m Shrikar. This is THELEMA.</a:t>
            </a:r>
          </a:p>
          <a:p>
            <a:r>
              <a:t>Prediction markets tell you if something happens.</a:t>
            </a:r>
          </a:p>
          <a:p>
            <a:r>
              <a:t>We tell you what that does to an asset.</a:t>
            </a:r>
          </a:p>
          <a:p>
            <a:r>
              <a:t>Same event. Two world prices. One vault of USDC.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China authorizing AI-chip exports.</a:t>
            </a:r>
          </a:p>
          <a:p>
            <a:r>
              <a:t>A yes/no book only prices the headline.</a:t>
            </a:r>
          </a:p>
          <a:p>
            <a:r>
              <a:t>THELEMA also prices the asset in the world where it happens, and in the world where it doesn’t.</a:t>
            </a:r>
          </a:p>
          <a:p>
            <a:r>
              <a:t>The gap is the impact. That’s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side is the event. Right side is the ticket.</a:t>
            </a:r>
          </a:p>
          <a:p>
            <a:r>
              <a:t>If happens is one price. If it doesn’t is the other.</a:t>
            </a:r>
          </a:p>
          <a:p>
            <a:r>
              <a:t>Neither number is typed in. They come out of the pool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I’m buying fifty dollars of the happens world.</a:t>
            </a:r>
          </a:p>
          <a:p>
            <a:r>
              <a:t>Fill lands. Probability moves.</a:t>
            </a:r>
          </a:p>
          <a:p>
            <a:r>
              <a:t>Volume was zero before I traded. Now it isn’t.</a:t>
            </a:r>
          </a:p>
          <a:p>
            <a:r>
              <a:t>Losing shares pay zero. Winning shares pay the min of the index and the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I ask for a thousand dollars, it does not go on-chain as a thousand.</a:t>
            </a:r>
          </a:p>
          <a:p>
            <a:r>
              <a:t>Chainlink CRE holds a private max notional. The fill you see is fifty.</a:t>
            </a:r>
          </a:p>
          <a:p>
            <a:r>
              <a:t>We ran the official simulator. There is no live TEE in production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Collateral is Arc native USDC. The precompile.</a:t>
            </a:r>
          </a:p>
          <a:p>
            <a:r>
              <a:t>Deposit C. You mint yes, no, and residual.</a:t>
            </a:r>
          </a:p>
          <a:p>
            <a:r>
              <a:t>On the winning world the share pays min of S and C.</a:t>
            </a:r>
          </a:p>
          <a:p>
            <a:r>
              <a:t>Yes plus no plus residual always equals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partners. One loop.</a:t>
            </a:r>
          </a:p>
          <a:p>
            <a:r>
              <a:t>Arc holds the USDC.</a:t>
            </a:r>
          </a:p>
          <a:p>
            <a:r>
              <a:t>Chainlink clips the size.</a:t>
            </a:r>
          </a:p>
          <a:p>
            <a:r>
              <a:t>The Graph checks the outside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Contracts are on Arc Testnet. Unaudited. Not a broker.</a:t>
            </a:r>
          </a:p>
          <a:p>
            <a:r>
              <a:t>Live at thelema.onrender.com.</a:t>
            </a:r>
          </a:p>
          <a:p>
            <a:r>
              <a:t>Code at github.com/ShrikarT/thelema.</a:t>
            </a:r>
          </a:p>
          <a:p>
            <a:r>
              <a:t>Thanks.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B8B96"/>
                </a:solidFill>
                <a:latin typeface="Arial"/>
              </a:rPr>
              <a:t>ETHONLINE 2026  ·  ARC  ·  CHAINLINK  ·  THE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6000" b="1" i="0">
                <a:solidFill>
                  <a:srgbClr val="F4F4F5"/>
                </a:solidFill>
                <a:latin typeface="Arial"/>
              </a:rPr>
              <a:t>THELEMA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8B8B96"/>
                </a:solidFill>
                <a:latin typeface="Arial"/>
              </a:rPr>
              <a:t>Trade the impact. Not just the odds.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B8B96"/>
                </a:solidFill>
                <a:latin typeface="Arial"/>
              </a:rPr>
              <a:t>thelema.onrender.com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B8B96"/>
                </a:solidFill>
                <a:latin typeface="Arial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800"/>
              </a:spcAft>
            </a:pPr>
            <a:r>
              <a:rPr sz="3600" b="1" i="0">
                <a:solidFill>
                  <a:srgbClr val="F4F4F5"/>
                </a:solidFill>
                <a:latin typeface="Arial"/>
              </a:rPr>
              <a:t>Most books ask if it happens.</a:t>
            </a:r>
          </a:p>
          <a:p>
            <a:pPr algn="l">
              <a:spcBef>
                <a:spcPts val="0"/>
              </a:spcBef>
              <a:spcAft>
                <a:spcPts val="3600"/>
              </a:spcAft>
            </a:pPr>
            <a:r>
              <a:rPr sz="3600" b="1" i="0">
                <a:solidFill>
                  <a:srgbClr val="F4F4F5"/>
                </a:solidFill>
                <a:latin typeface="Arial"/>
              </a:rPr>
              <a:t>We ask what the asset does.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B8B96"/>
                </a:solidFill>
                <a:latin typeface="Arial"/>
              </a:rPr>
              <a:t>One event. Two world prices. The difference is the impact.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B8B96"/>
                </a:solidFill>
                <a:latin typeface="Arial"/>
              </a:rPr>
              <a:t>THE TICKET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5029200" cy="3291840"/>
          </a:xfrm>
          <a:prstGeom prst="roundRect">
            <a:avLst>
              <a:gd name="adj" fmla="val 8000"/>
            </a:avLst>
          </a:prstGeom>
          <a:solidFill>
            <a:srgbClr val="16161A"/>
          </a:solidFill>
          <a:ln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429768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600" b="1" i="0">
                <a:solidFill>
                  <a:srgbClr val="8B8B96"/>
                </a:solidFill>
                <a:latin typeface="Arial"/>
              </a:rPr>
              <a:t>IF IT HAPPENS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 i="0">
                <a:solidFill>
                  <a:srgbClr val="2FCE8A"/>
                </a:solidFill>
                <a:latin typeface="Arial"/>
              </a:rPr>
              <a:t>A price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B8B96"/>
                </a:solidFill>
                <a:latin typeface="Arial"/>
              </a:rPr>
              <a:t>E[S | YES]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828800"/>
            <a:ext cx="5029200" cy="3291840"/>
          </a:xfrm>
          <a:prstGeom prst="roundRect">
            <a:avLst>
              <a:gd name="adj" fmla="val 8000"/>
            </a:avLst>
          </a:prstGeom>
          <a:solidFill>
            <a:srgbClr val="16161A"/>
          </a:solidFill>
          <a:ln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2148840"/>
            <a:ext cx="429768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600" b="1" i="0">
                <a:solidFill>
                  <a:srgbClr val="8B8B96"/>
                </a:solidFill>
                <a:latin typeface="Arial"/>
              </a:rPr>
              <a:t>IF IT DOESN’T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 i="0">
                <a:solidFill>
                  <a:srgbClr val="EF6B73"/>
                </a:solidFill>
                <a:latin typeface="Arial"/>
              </a:rPr>
              <a:t>A price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B8B96"/>
                </a:solidFill>
                <a:latin typeface="Arial"/>
              </a:rPr>
              <a:t>E[S | NO]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B8B96"/>
                </a:solidFill>
                <a:latin typeface="Arial"/>
              </a:rPr>
              <a:t>A FILL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200" b="1" i="0">
                <a:solidFill>
                  <a:srgbClr val="F4F4F5"/>
                </a:solidFill>
                <a:latin typeface="Arial"/>
              </a:rPr>
              <a:t>You buy one world.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200" b="1" i="0">
                <a:solidFill>
                  <a:srgbClr val="F4F4F5"/>
                </a:solidFill>
                <a:latin typeface="Arial"/>
              </a:rPr>
              <a:t>Probability moves.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8B8B96"/>
                </a:solidFill>
                <a:latin typeface="Arial"/>
              </a:rPr>
              <a:t>Volume starts at zero.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8B8B96"/>
                </a:solidFill>
                <a:latin typeface="Arial"/>
              </a:rPr>
              <a:t>Only your fills count.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B8B96"/>
                </a:solidFill>
                <a:latin typeface="Arial"/>
              </a:rPr>
              <a:t>CHAINLINK CRE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200"/>
              </a:spcAft>
            </a:pPr>
            <a:r>
              <a:rPr sz="3600" b="1" i="0">
                <a:solidFill>
                  <a:srgbClr val="F4F4F5"/>
                </a:solidFill>
                <a:latin typeface="Arial"/>
              </a:rPr>
              <a:t>You type 1,000.</a:t>
            </a:r>
          </a:p>
          <a:p>
            <a:pPr algn="l">
              <a:spcBef>
                <a:spcPts val="0"/>
              </a:spcBef>
              <a:spcAft>
                <a:spcPts val="2800"/>
              </a:spcAft>
            </a:pPr>
            <a:r>
              <a:rPr sz="3600" b="1" i="0">
                <a:solidFill>
                  <a:srgbClr val="F4F4F5"/>
                </a:solidFill>
                <a:latin typeface="Arial"/>
              </a:rPr>
              <a:t>The chain sees 50.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B8B96"/>
                </a:solidFill>
                <a:latin typeface="Arial"/>
              </a:rPr>
              <a:t>Private MAX_NOTIONAL. WASM workflow. No live TEE to claim.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B8B96"/>
                </a:solidFill>
                <a:latin typeface="Arial"/>
              </a:rPr>
              <a:t>ARC  ·  NATIVE USDC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400"/>
              </a:spcAft>
            </a:pPr>
            <a:r>
              <a:rPr sz="4000" b="1" i="0">
                <a:solidFill>
                  <a:srgbClr val="F4F4F5"/>
                </a:solidFill>
                <a:latin typeface="Arial"/>
              </a:rPr>
              <a:t>C  →  YES  +  NO  +  R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8B8B96"/>
                </a:solidFill>
                <a:latin typeface="Arial"/>
              </a:rPr>
              <a:t>Winner pays min(S, C). Loser pays 0.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B8B96"/>
                </a:solidFill>
                <a:latin typeface="Arial"/>
              </a:rPr>
              <a:t>Residual holds the rest. The vault cannot go insolvent.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B8B96"/>
                </a:solidFill>
                <a:latin typeface="Arial"/>
              </a:rPr>
              <a:t>ETHONLINE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33832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800" b="1" i="0">
                <a:solidFill>
                  <a:srgbClr val="F4F4F5"/>
                </a:solidFill>
                <a:latin typeface="Arial"/>
              </a:rPr>
              <a:t>Arc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8B8B96"/>
                </a:solidFill>
                <a:latin typeface="Arial"/>
              </a:rPr>
              <a:t>USDC vaults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8B8B96"/>
                </a:solidFill>
                <a:latin typeface="Arial"/>
              </a:rPr>
              <a:t>and AMMs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2011680"/>
            <a:ext cx="33832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800" b="1" i="0">
                <a:solidFill>
                  <a:srgbClr val="F4F4F5"/>
                </a:solidFill>
                <a:latin typeface="Arial"/>
              </a:rPr>
              <a:t>Chainlink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8B8B96"/>
                </a:solidFill>
                <a:latin typeface="Arial"/>
              </a:rPr>
              <a:t>Confidential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8B8B96"/>
                </a:solidFill>
                <a:latin typeface="Arial"/>
              </a:rPr>
              <a:t>size clip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011680"/>
            <a:ext cx="33832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800" b="1" i="0">
                <a:solidFill>
                  <a:srgbClr val="F4F4F5"/>
                </a:solidFill>
                <a:latin typeface="Arial"/>
              </a:rPr>
              <a:t>The Graph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8B8B96"/>
                </a:solidFill>
                <a:latin typeface="Arial"/>
              </a:rPr>
              <a:t>Two DEX tapes.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8B8B96"/>
                </a:solidFill>
                <a:latin typeface="Arial"/>
              </a:rPr>
              <a:t>Fail closed.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B8B96"/>
                </a:solidFill>
                <a:latin typeface="Arial"/>
              </a:rPr>
              <a:t>TRY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3200" b="1" i="0">
                <a:solidFill>
                  <a:srgbClr val="F4F4F5"/>
                </a:solidFill>
                <a:latin typeface="Arial"/>
              </a:rPr>
              <a:t>thelema.onrender.com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8B8B96"/>
                </a:solidFill>
                <a:latin typeface="Arial"/>
              </a:rPr>
              <a:t>github.com/ShrikarT/thelema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B8B96"/>
                </a:solidFill>
                <a:latin typeface="Arial"/>
              </a:rPr>
              <a:t>Arc Testnet  ·  unaudited  ·  not a broker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